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899855" y="182880"/>
            <a:ext cx="914400" cy="502920"/>
          </a:xfrm>
          <a:prstGeom prst="rect">
            <a:avLst/>
          </a:prstGeom>
          <a:solidFill>
            <a:srgbClr val="F3F4F6"/>
          </a:solidFill>
          <a:ln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6B7280"/>
                </a:solidFill>
              </a:defRPr>
            </a:pPr>
            <a:r>
              <a:t>Logo 1</a:t>
            </a:r>
          </a:p>
        </p:txBody>
      </p:sp>
      <p:sp>
        <p:nvSpPr>
          <p:cNvPr id="3" name="Rectangle 2"/>
          <p:cNvSpPr/>
          <p:nvPr/>
        </p:nvSpPr>
        <p:spPr>
          <a:xfrm>
            <a:off x="9951415" y="182880"/>
            <a:ext cx="914400" cy="502920"/>
          </a:xfrm>
          <a:prstGeom prst="rect">
            <a:avLst/>
          </a:prstGeom>
          <a:solidFill>
            <a:srgbClr val="F3F4F6"/>
          </a:solidFill>
          <a:ln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6B7280"/>
                </a:solidFill>
              </a:defRPr>
            </a:pPr>
            <a:r>
              <a:t>Logo 2</a:t>
            </a:r>
          </a:p>
        </p:txBody>
      </p:sp>
      <p:sp>
        <p:nvSpPr>
          <p:cNvPr id="4" name="Rectangle 3"/>
          <p:cNvSpPr/>
          <p:nvPr/>
        </p:nvSpPr>
        <p:spPr>
          <a:xfrm>
            <a:off x="11002975" y="182880"/>
            <a:ext cx="914400" cy="502920"/>
          </a:xfrm>
          <a:prstGeom prst="rect">
            <a:avLst/>
          </a:prstGeom>
          <a:solidFill>
            <a:srgbClr val="F3F4F6"/>
          </a:solidFill>
          <a:ln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6B7280"/>
                </a:solidFill>
              </a:defRPr>
            </a:pPr>
            <a:r>
              <a:t>Logo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8686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11827"/>
                </a:solidFill>
              </a:defRPr>
            </a:pPr>
            <a:r>
              <a:t>AI-Based Expense Categorization &amp; Smart Insights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563EB"/>
                </a:solidFill>
              </a:defRPr>
            </a:pPr>
            <a:r>
              <a:t>FinTech Project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77440"/>
            <a:ext cx="1078992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600">
                <a:solidFill>
                  <a:srgbClr val="1F2937"/>
                </a:solidFill>
              </a:defRPr>
            </a:pPr>
            <a:r>
              <a:t>Automate transaction categorization using NLP and pattern recognition</a:t>
            </a:r>
          </a:p>
          <a:p>
            <a:pPr>
              <a:spcAft>
                <a:spcPts val="1200"/>
              </a:spcAft>
              <a:defRPr sz="2600">
                <a:solidFill>
                  <a:srgbClr val="1F2937"/>
                </a:solidFill>
              </a:defRPr>
            </a:pPr>
            <a:r>
              <a:t>Deliver clear spending insights and smarter financial decisions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899855" y="182880"/>
            <a:ext cx="914400" cy="502920"/>
          </a:xfrm>
          <a:prstGeom prst="rect">
            <a:avLst/>
          </a:prstGeom>
          <a:solidFill>
            <a:srgbClr val="F3F4F6"/>
          </a:solidFill>
          <a:ln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6B7280"/>
                </a:solidFill>
              </a:defRPr>
            </a:pPr>
            <a:r>
              <a:t>Logo 1</a:t>
            </a:r>
          </a:p>
        </p:txBody>
      </p:sp>
      <p:sp>
        <p:nvSpPr>
          <p:cNvPr id="3" name="Rectangle 2"/>
          <p:cNvSpPr/>
          <p:nvPr/>
        </p:nvSpPr>
        <p:spPr>
          <a:xfrm>
            <a:off x="9951415" y="182880"/>
            <a:ext cx="914400" cy="502920"/>
          </a:xfrm>
          <a:prstGeom prst="rect">
            <a:avLst/>
          </a:prstGeom>
          <a:solidFill>
            <a:srgbClr val="F3F4F6"/>
          </a:solidFill>
          <a:ln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6B7280"/>
                </a:solidFill>
              </a:defRPr>
            </a:pPr>
            <a:r>
              <a:t>Logo 2</a:t>
            </a:r>
          </a:p>
        </p:txBody>
      </p:sp>
      <p:sp>
        <p:nvSpPr>
          <p:cNvPr id="4" name="Rectangle 3"/>
          <p:cNvSpPr/>
          <p:nvPr/>
        </p:nvSpPr>
        <p:spPr>
          <a:xfrm>
            <a:off x="11002975" y="182880"/>
            <a:ext cx="914400" cy="502920"/>
          </a:xfrm>
          <a:prstGeom prst="rect">
            <a:avLst/>
          </a:prstGeom>
          <a:solidFill>
            <a:srgbClr val="F3F4F6"/>
          </a:solidFill>
          <a:ln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6B7280"/>
                </a:solidFill>
              </a:defRPr>
            </a:pPr>
            <a:r>
              <a:t>Logo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8686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11827"/>
                </a:solidFill>
              </a:defRPr>
            </a:pPr>
            <a: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972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1F2937"/>
                </a:solidFill>
              </a:defRPr>
            </a:pPr>
            <a:r>
              <a:t>Users make hundreds of digital transactions every month.</a:t>
            </a:r>
          </a:p>
          <a:p>
            <a:pPr>
              <a:spcAft>
                <a:spcPts val="1200"/>
              </a:spcAft>
              <a:defRPr sz="2400">
                <a:solidFill>
                  <a:srgbClr val="1F2937"/>
                </a:solidFill>
              </a:defRPr>
            </a:pPr>
            <a:r>
              <a:t>Most users lack clear visibility into where money is spent.</a:t>
            </a:r>
          </a:p>
          <a:p>
            <a:pPr>
              <a:spcAft>
                <a:spcPts val="1200"/>
              </a:spcAft>
              <a:defRPr sz="2400">
                <a:solidFill>
                  <a:srgbClr val="1F2937"/>
                </a:solidFill>
              </a:defRPr>
            </a:pPr>
            <a:r>
              <a:t>Manual expense tracking is tedious, time-consuming, and often inaccurate.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899855" y="182880"/>
            <a:ext cx="914400" cy="502920"/>
          </a:xfrm>
          <a:prstGeom prst="rect">
            <a:avLst/>
          </a:prstGeom>
          <a:solidFill>
            <a:srgbClr val="F3F4F6"/>
          </a:solidFill>
          <a:ln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6B7280"/>
                </a:solidFill>
              </a:defRPr>
            </a:pPr>
            <a:r>
              <a:t>Logo 1</a:t>
            </a:r>
          </a:p>
        </p:txBody>
      </p:sp>
      <p:sp>
        <p:nvSpPr>
          <p:cNvPr id="3" name="Rectangle 2"/>
          <p:cNvSpPr/>
          <p:nvPr/>
        </p:nvSpPr>
        <p:spPr>
          <a:xfrm>
            <a:off x="9951415" y="182880"/>
            <a:ext cx="914400" cy="502920"/>
          </a:xfrm>
          <a:prstGeom prst="rect">
            <a:avLst/>
          </a:prstGeom>
          <a:solidFill>
            <a:srgbClr val="F3F4F6"/>
          </a:solidFill>
          <a:ln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6B7280"/>
                </a:solidFill>
              </a:defRPr>
            </a:pPr>
            <a:r>
              <a:t>Logo 2</a:t>
            </a:r>
          </a:p>
        </p:txBody>
      </p:sp>
      <p:sp>
        <p:nvSpPr>
          <p:cNvPr id="4" name="Rectangle 3"/>
          <p:cNvSpPr/>
          <p:nvPr/>
        </p:nvSpPr>
        <p:spPr>
          <a:xfrm>
            <a:off x="11002975" y="182880"/>
            <a:ext cx="914400" cy="502920"/>
          </a:xfrm>
          <a:prstGeom prst="rect">
            <a:avLst/>
          </a:prstGeom>
          <a:solidFill>
            <a:srgbClr val="F3F4F6"/>
          </a:solidFill>
          <a:ln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6B7280"/>
                </a:solidFill>
              </a:defRPr>
            </a:pPr>
            <a:r>
              <a:t>Logo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8686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11827"/>
                </a:solidFill>
              </a:defRPr>
            </a:pPr>
            <a:r>
              <a:t>Proposed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972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1F2937"/>
                </a:solidFill>
              </a:defRPr>
            </a:pPr>
            <a:r>
              <a:t>Build an AI-driven system to auto-categorize transactions (food, travel, bills, etc.).</a:t>
            </a:r>
          </a:p>
          <a:p>
            <a:pPr>
              <a:spcAft>
                <a:spcPts val="1200"/>
              </a:spcAft>
              <a:defRPr sz="2400">
                <a:solidFill>
                  <a:srgbClr val="1F2937"/>
                </a:solidFill>
              </a:defRPr>
            </a:pPr>
            <a:r>
              <a:t>Use NLP and spending-pattern recognition for higher accuracy.</a:t>
            </a:r>
          </a:p>
          <a:p>
            <a:pPr>
              <a:spcAft>
                <a:spcPts val="1200"/>
              </a:spcAft>
              <a:defRPr sz="2400">
                <a:solidFill>
                  <a:srgbClr val="1F2937"/>
                </a:solidFill>
              </a:defRPr>
            </a:pPr>
            <a:r>
              <a:t>Convert raw transaction data into actionable insights.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899855" y="182880"/>
            <a:ext cx="914400" cy="502920"/>
          </a:xfrm>
          <a:prstGeom prst="rect">
            <a:avLst/>
          </a:prstGeom>
          <a:solidFill>
            <a:srgbClr val="F3F4F6"/>
          </a:solidFill>
          <a:ln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6B7280"/>
                </a:solidFill>
              </a:defRPr>
            </a:pPr>
            <a:r>
              <a:t>Logo 1</a:t>
            </a:r>
          </a:p>
        </p:txBody>
      </p:sp>
      <p:sp>
        <p:nvSpPr>
          <p:cNvPr id="3" name="Rectangle 2"/>
          <p:cNvSpPr/>
          <p:nvPr/>
        </p:nvSpPr>
        <p:spPr>
          <a:xfrm>
            <a:off x="9951415" y="182880"/>
            <a:ext cx="914400" cy="502920"/>
          </a:xfrm>
          <a:prstGeom prst="rect">
            <a:avLst/>
          </a:prstGeom>
          <a:solidFill>
            <a:srgbClr val="F3F4F6"/>
          </a:solidFill>
          <a:ln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6B7280"/>
                </a:solidFill>
              </a:defRPr>
            </a:pPr>
            <a:r>
              <a:t>Logo 2</a:t>
            </a:r>
          </a:p>
        </p:txBody>
      </p:sp>
      <p:sp>
        <p:nvSpPr>
          <p:cNvPr id="4" name="Rectangle 3"/>
          <p:cNvSpPr/>
          <p:nvPr/>
        </p:nvSpPr>
        <p:spPr>
          <a:xfrm>
            <a:off x="11002975" y="182880"/>
            <a:ext cx="914400" cy="502920"/>
          </a:xfrm>
          <a:prstGeom prst="rect">
            <a:avLst/>
          </a:prstGeom>
          <a:solidFill>
            <a:srgbClr val="F3F4F6"/>
          </a:solidFill>
          <a:ln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6B7280"/>
                </a:solidFill>
              </a:defRPr>
            </a:pPr>
            <a:r>
              <a:t>Logo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8686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11827"/>
                </a:solidFill>
              </a:defRPr>
            </a:pPr>
            <a:r>
              <a:t>Key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972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1F2937"/>
                </a:solidFill>
              </a:defRPr>
            </a:pPr>
            <a:r>
              <a:t>Visual dashboards for spending habits</a:t>
            </a:r>
          </a:p>
          <a:p>
            <a:pPr>
              <a:spcAft>
                <a:spcPts val="1200"/>
              </a:spcAft>
              <a:defRPr sz="2400">
                <a:solidFill>
                  <a:srgbClr val="1F2937"/>
                </a:solidFill>
              </a:defRPr>
            </a:pPr>
            <a:r>
              <a:t>Detection of unusual spending patterns</a:t>
            </a:r>
          </a:p>
          <a:p>
            <a:pPr>
              <a:spcAft>
                <a:spcPts val="1200"/>
              </a:spcAft>
              <a:defRPr sz="2400">
                <a:solidFill>
                  <a:srgbClr val="1F2937"/>
                </a:solidFill>
              </a:defRPr>
            </a:pPr>
            <a:r>
              <a:t>Suggestions for cost-cutting opportunities</a:t>
            </a:r>
          </a:p>
          <a:p>
            <a:pPr>
              <a:spcAft>
                <a:spcPts val="1200"/>
              </a:spcAft>
              <a:defRPr sz="2400">
                <a:solidFill>
                  <a:srgbClr val="1F2937"/>
                </a:solidFill>
              </a:defRPr>
            </a:pPr>
            <a:r>
              <a:t>Automated monthly financial summaries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899855" y="182880"/>
            <a:ext cx="914400" cy="502920"/>
          </a:xfrm>
          <a:prstGeom prst="rect">
            <a:avLst/>
          </a:prstGeom>
          <a:solidFill>
            <a:srgbClr val="F3F4F6"/>
          </a:solidFill>
          <a:ln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6B7280"/>
                </a:solidFill>
              </a:defRPr>
            </a:pPr>
            <a:r>
              <a:t>Logo 1</a:t>
            </a:r>
          </a:p>
        </p:txBody>
      </p:sp>
      <p:sp>
        <p:nvSpPr>
          <p:cNvPr id="3" name="Rectangle 2"/>
          <p:cNvSpPr/>
          <p:nvPr/>
        </p:nvSpPr>
        <p:spPr>
          <a:xfrm>
            <a:off x="9951415" y="182880"/>
            <a:ext cx="914400" cy="502920"/>
          </a:xfrm>
          <a:prstGeom prst="rect">
            <a:avLst/>
          </a:prstGeom>
          <a:solidFill>
            <a:srgbClr val="F3F4F6"/>
          </a:solidFill>
          <a:ln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6B7280"/>
                </a:solidFill>
              </a:defRPr>
            </a:pPr>
            <a:r>
              <a:t>Logo 2</a:t>
            </a:r>
          </a:p>
        </p:txBody>
      </p:sp>
      <p:sp>
        <p:nvSpPr>
          <p:cNvPr id="4" name="Rectangle 3"/>
          <p:cNvSpPr/>
          <p:nvPr/>
        </p:nvSpPr>
        <p:spPr>
          <a:xfrm>
            <a:off x="11002975" y="182880"/>
            <a:ext cx="914400" cy="502920"/>
          </a:xfrm>
          <a:prstGeom prst="rect">
            <a:avLst/>
          </a:prstGeom>
          <a:solidFill>
            <a:srgbClr val="F3F4F6"/>
          </a:solidFill>
          <a:ln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6B7280"/>
                </a:solidFill>
              </a:defRPr>
            </a:pPr>
            <a:r>
              <a:t>Logo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8686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11827"/>
                </a:solidFill>
              </a:defRPr>
            </a:pPr>
            <a:r>
              <a:t>Expected Value &amp;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9728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1F2937"/>
                </a:solidFill>
              </a:defRPr>
            </a:pPr>
            <a:r>
              <a:t>Better financial awareness for users</a:t>
            </a:r>
          </a:p>
          <a:p>
            <a:pPr>
              <a:spcAft>
                <a:spcPts val="1200"/>
              </a:spcAft>
              <a:defRPr sz="2400">
                <a:solidFill>
                  <a:srgbClr val="1F2937"/>
                </a:solidFill>
              </a:defRPr>
            </a:pPr>
            <a:r>
              <a:t>Reduced manual effort in expense management</a:t>
            </a:r>
          </a:p>
          <a:p>
            <a:pPr>
              <a:spcAft>
                <a:spcPts val="1200"/>
              </a:spcAft>
              <a:defRPr sz="2400">
                <a:solidFill>
                  <a:srgbClr val="1F2937"/>
                </a:solidFill>
              </a:defRPr>
            </a:pPr>
            <a:r>
              <a:t>Early alerts for abnormal spending behavior</a:t>
            </a:r>
          </a:p>
          <a:p>
            <a:pPr>
              <a:spcAft>
                <a:spcPts val="1200"/>
              </a:spcAft>
              <a:defRPr sz="2400">
                <a:solidFill>
                  <a:srgbClr val="1F2937"/>
                </a:solidFill>
              </a:defRPr>
            </a:pPr>
            <a:r>
              <a:t>Improved savings through smart recommendations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899855" y="182880"/>
            <a:ext cx="914400" cy="502920"/>
          </a:xfrm>
          <a:prstGeom prst="rect">
            <a:avLst/>
          </a:prstGeom>
          <a:solidFill>
            <a:srgbClr val="F3F4F6"/>
          </a:solidFill>
          <a:ln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6B7280"/>
                </a:solidFill>
              </a:defRPr>
            </a:pPr>
            <a:r>
              <a:t>Logo 1</a:t>
            </a:r>
          </a:p>
        </p:txBody>
      </p:sp>
      <p:sp>
        <p:nvSpPr>
          <p:cNvPr id="3" name="Rectangle 2"/>
          <p:cNvSpPr/>
          <p:nvPr/>
        </p:nvSpPr>
        <p:spPr>
          <a:xfrm>
            <a:off x="9951415" y="182880"/>
            <a:ext cx="914400" cy="502920"/>
          </a:xfrm>
          <a:prstGeom prst="rect">
            <a:avLst/>
          </a:prstGeom>
          <a:solidFill>
            <a:srgbClr val="F3F4F6"/>
          </a:solidFill>
          <a:ln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6B7280"/>
                </a:solidFill>
              </a:defRPr>
            </a:pPr>
            <a:r>
              <a:t>Logo 2</a:t>
            </a:r>
          </a:p>
        </p:txBody>
      </p:sp>
      <p:sp>
        <p:nvSpPr>
          <p:cNvPr id="4" name="Rectangle 3"/>
          <p:cNvSpPr/>
          <p:nvPr/>
        </p:nvSpPr>
        <p:spPr>
          <a:xfrm>
            <a:off x="11002975" y="182880"/>
            <a:ext cx="914400" cy="502920"/>
          </a:xfrm>
          <a:prstGeom prst="rect">
            <a:avLst/>
          </a:prstGeom>
          <a:solidFill>
            <a:srgbClr val="F3F4F6"/>
          </a:solidFill>
          <a:ln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6B7280"/>
                </a:solidFill>
              </a:defRPr>
            </a:pPr>
            <a:r>
              <a:t>Logo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8686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11827"/>
                </a:solidFill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1097280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800">
                <a:solidFill>
                  <a:srgbClr val="1F2937"/>
                </a:solidFill>
              </a:defRPr>
            </a:pPr>
            <a:r>
              <a:t>AI-Based Expense Categorization &amp; Smart Insights System</a:t>
            </a:r>
          </a:p>
          <a:p>
            <a:pPr>
              <a:spcAft>
                <a:spcPts val="1200"/>
              </a:spcAft>
              <a:defRPr sz="2800">
                <a:solidFill>
                  <a:srgbClr val="1F2937"/>
                </a:solidFill>
              </a:defRPr>
            </a:pPr>
            <a:r>
              <a:t>Ready for implementation and demo planning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